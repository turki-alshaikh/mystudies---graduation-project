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7BF87-74D2-ABFD-9A1E-80365461B412}" v="102" dt="2025-12-08T14:50:42.944"/>
    <p1510:client id="{91957419-20FF-7303-3DAA-9B84D8818B94}" v="22" dt="2025-12-08T09:56:48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6D125-C82C-4D9C-A3BC-70C12EDC9FDF}" type="datetimeFigureOut"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46700-E286-488D-80A5-196346EDC4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06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88788" y="761048"/>
            <a:ext cx="92527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MyStudies: Smart Academic Organizer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192345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Graduation Project – Final Presentation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93790" y="26321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Jubail Industrial College - COIT - Semester #471 - 12/2025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32501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Supervisor:</a:t>
            </a: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Dr. Mohamed Yassine El Amrani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</a:t>
            </a: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3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93790" y="45712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Team Members:</a:t>
            </a:r>
            <a:endParaRPr lang="en-US" sz="2650"/>
          </a:p>
        </p:txBody>
      </p:sp>
      <p:sp>
        <p:nvSpPr>
          <p:cNvPr id="8" name="Text 6"/>
          <p:cNvSpPr/>
          <p:nvPr/>
        </p:nvSpPr>
        <p:spPr>
          <a:xfrm>
            <a:off x="793790" y="53367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Asim Alzahrani (421900453)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793790" y="57789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Mustafa Al Qattan (441101247)</a:t>
            </a:r>
            <a:endParaRPr lang="en-US" sz="1750"/>
          </a:p>
        </p:txBody>
      </p:sp>
      <p:sp>
        <p:nvSpPr>
          <p:cNvPr id="10" name="Text 8"/>
          <p:cNvSpPr/>
          <p:nvPr/>
        </p:nvSpPr>
        <p:spPr>
          <a:xfrm>
            <a:off x="793790" y="62211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Majed Almutairi (431900118)</a:t>
            </a:r>
            <a:endParaRPr lang="en-US" sz="1750"/>
          </a:p>
        </p:txBody>
      </p:sp>
      <p:sp>
        <p:nvSpPr>
          <p:cNvPr id="11" name="Text 9"/>
          <p:cNvSpPr/>
          <p:nvPr/>
        </p:nvSpPr>
        <p:spPr>
          <a:xfrm>
            <a:off x="793790" y="66633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Abdulaziz Alghamdi (421901508)</a:t>
            </a:r>
            <a:endParaRPr lang="en-US" sz="1750"/>
          </a:p>
        </p:txBody>
      </p:sp>
      <p:sp>
        <p:nvSpPr>
          <p:cNvPr id="12" name="Text 10"/>
          <p:cNvSpPr/>
          <p:nvPr/>
        </p:nvSpPr>
        <p:spPr>
          <a:xfrm>
            <a:off x="793790" y="71055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Turki Alshaikh (422100018)</a:t>
            </a:r>
            <a:endParaRPr lang="en-US" sz="17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B90B3-89BA-F867-3E5A-8625BBFF455D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0118"/>
            <a:ext cx="83945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Introduction &amp; Problem Statement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062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often struggle with academic responsibilities due to fragmented information and inefficient processes.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3680579"/>
            <a:ext cx="6407944" cy="2648783"/>
          </a:xfrm>
          <a:prstGeom prst="roundRect">
            <a:avLst>
              <a:gd name="adj" fmla="val 359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915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Problems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28224" y="440543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Static PDF schedules</a:t>
            </a:r>
            <a:endParaRPr lang="en-US" sz="17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8224" y="4847630"/>
            <a:ext cx="60202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Arial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Deadlines scattered across Blackboard announcement</a:t>
            </a:r>
            <a:endParaRPr lang="en-US" sz="175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1157" y="6813828"/>
            <a:ext cx="10793298" cy="64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1600">
                <a:latin typeface="Open Sans"/>
                <a:ea typeface="Open Sans"/>
                <a:cs typeface="Open Sans"/>
              </a:rPr>
              <a:t>These challenges highlight the need for an automated, centralized academic management system designed specifically for students.</a:t>
            </a:r>
            <a:endParaRPr lang="en-US" sz="160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8223" y="533209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Scattered academic resources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680579"/>
            <a:ext cx="6408063" cy="2648783"/>
          </a:xfrm>
          <a:prstGeom prst="roundRect">
            <a:avLst>
              <a:gd name="adj" fmla="val 359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982" y="3915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Impact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7662982" y="440543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Arial"/>
              <a:buChar char="•"/>
            </a:pPr>
            <a:r>
              <a:rPr lang="en-US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Poor organization</a:t>
            </a:r>
            <a:endParaRPr lang="en-US" sz="1750"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62982" y="484763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Arial"/>
              <a:buChar char="•"/>
            </a:pPr>
            <a:r>
              <a:rPr lang="en-US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Missed deadlines</a:t>
            </a:r>
            <a:endParaRPr lang="en-US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62982" y="528982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Increased student workload</a:t>
            </a:r>
            <a:endParaRPr lang="en-US" sz="17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DCCDE1-A6FE-B1C8-8FC9-E1EE890E9F41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33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Solution: MyStudies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1957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MyStudies</a:t>
            </a: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is a mobile application that helps students manage </a:t>
            </a:r>
            <a:r>
              <a:rPr lang="en-US" sz="1750" b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classes, deadlines, and announcements in one place</a:t>
            </a: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.</a:t>
            </a:r>
          </a:p>
        </p:txBody>
      </p:sp>
      <p:sp>
        <p:nvSpPr>
          <p:cNvPr id="4" name="Shape 2"/>
          <p:cNvSpPr/>
          <p:nvPr/>
        </p:nvSpPr>
        <p:spPr>
          <a:xfrm>
            <a:off x="793789" y="3813810"/>
            <a:ext cx="6408063" cy="2114342"/>
          </a:xfrm>
          <a:prstGeom prst="roundRect">
            <a:avLst>
              <a:gd name="adj" fmla="val 53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80084" y="4048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Purpose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28224" y="4538662"/>
            <a:ext cx="5939076" cy="859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Arial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+mn-lt"/>
                <a:cs typeface="+mn-lt"/>
              </a:rPr>
              <a:t>Automatically convert schedules and announcements</a:t>
            </a:r>
          </a:p>
          <a:p>
            <a:pPr lvl="1" algn="l"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+mn-lt"/>
                <a:cs typeface="+mn-lt"/>
              </a:rPr>
              <a:t>into calendar events</a:t>
            </a:r>
            <a:endParaRPr lang="en-US" sz="1750" dirty="0">
              <a:latin typeface="Open Sans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8224" y="5398550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 organization &amp; time management</a:t>
            </a:r>
            <a:endParaRPr lang="en-US" sz="1750"/>
          </a:p>
        </p:txBody>
      </p:sp>
      <p:sp>
        <p:nvSpPr>
          <p:cNvPr id="8" name="Shape 6"/>
          <p:cNvSpPr/>
          <p:nvPr/>
        </p:nvSpPr>
        <p:spPr>
          <a:xfrm>
            <a:off x="7428548" y="3813810"/>
            <a:ext cx="6408063" cy="2114342"/>
          </a:xfrm>
          <a:prstGeom prst="roundRect">
            <a:avLst>
              <a:gd name="adj" fmla="val 53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4961" y="4048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Target Users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7662982" y="453866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College and university students</a:t>
            </a:r>
            <a:endParaRPr lang="en-US" sz="1750"/>
          </a:p>
        </p:txBody>
      </p:sp>
      <p:sp>
        <p:nvSpPr>
          <p:cNvPr id="11" name="Text 9"/>
          <p:cNvSpPr/>
          <p:nvPr/>
        </p:nvSpPr>
        <p:spPr>
          <a:xfrm>
            <a:off x="793790" y="61155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43728"/>
                </a:solidFill>
                <a:latin typeface="Open Sans"/>
                <a:ea typeface="+mn-lt"/>
                <a:cs typeface="+mn-lt"/>
              </a:rPr>
              <a:t>MyStudies helps students stay organized and avoid missing important academic deadlines.</a:t>
            </a:r>
            <a:endParaRPr lang="en-US">
              <a:latin typeface="Open Sans"/>
              <a:ea typeface="+mn-lt"/>
              <a:cs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C77C50-8A2C-CE75-A339-B1F9FF87AB8C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3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Main Features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22255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MyStudies offers a comprehensive suite of features to address core academic organization challenges.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2843570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078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30303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Automatic Import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28224" y="356842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import class schedules from PDFs, eliminating manual data entry.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5216962" y="2843570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3078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30303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OCR Scanning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5451396" y="356842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 Blackboard announcements via OCR to capture deadlines and key information, with integrated reminders.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9640133" y="2843570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078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30303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Unified Calendar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9874568" y="356842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 calendar view for all academic events, consolidating schedules and deadlines.</a:t>
            </a:r>
            <a:endParaRPr lang="en-US" sz="1750"/>
          </a:p>
        </p:txBody>
      </p:sp>
      <p:sp>
        <p:nvSpPr>
          <p:cNvPr id="13" name="Shape 11"/>
          <p:cNvSpPr/>
          <p:nvPr/>
        </p:nvSpPr>
        <p:spPr>
          <a:xfrm>
            <a:off x="793790" y="5481280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57157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30303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GPA Tracking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1028224" y="620613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 current and predict target GPA to monitor academic progress effectively.</a:t>
            </a:r>
            <a:endParaRPr lang="en-US" sz="1750"/>
          </a:p>
        </p:txBody>
      </p:sp>
      <p:sp>
        <p:nvSpPr>
          <p:cNvPr id="16" name="Shape 14"/>
          <p:cNvSpPr/>
          <p:nvPr/>
        </p:nvSpPr>
        <p:spPr>
          <a:xfrm>
            <a:off x="7428548" y="5481280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982" y="57157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30303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Calendar Export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7662982" y="620613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3030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 academic events seamlessly to Google/Apple Calendar.</a:t>
            </a:r>
            <a:endParaRPr lang="en-US" sz="17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420BE7-F143-BB63-2E64-54B81C5A3466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3055"/>
            <a:ext cx="7250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 Overview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17954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modular and maintainable architecture ensures a stable and scalable application.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1857256" y="2682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Flutter UI Layer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793790" y="3172658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an intuitive, responsive user interface for seamless interaction.</a:t>
            </a:r>
            <a:endParaRPr lang="en-US" sz="17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/>
          </a:p>
        </p:txBody>
      </p:sp>
      <p:sp>
        <p:nvSpPr>
          <p:cNvPr id="8" name="Text 5"/>
          <p:cNvSpPr/>
          <p:nvPr/>
        </p:nvSpPr>
        <p:spPr>
          <a:xfrm>
            <a:off x="9937790" y="2863691"/>
            <a:ext cx="34472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Logic (BLoC/Cubit)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9937790" y="3354110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state for predictive and consistent application behavior.</a:t>
            </a:r>
            <a:endParaRPr lang="en-US" sz="175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/>
          </a:p>
        </p:txBody>
      </p:sp>
      <p:sp>
        <p:nvSpPr>
          <p:cNvPr id="12" name="Text 8"/>
          <p:cNvSpPr/>
          <p:nvPr/>
        </p:nvSpPr>
        <p:spPr>
          <a:xfrm>
            <a:off x="9937790" y="53162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Local SQLite Database</a:t>
            </a:r>
            <a:endParaRPr lang="en-US" sz="2200"/>
          </a:p>
        </p:txBody>
      </p:sp>
      <p:sp>
        <p:nvSpPr>
          <p:cNvPr id="13" name="Text 9"/>
          <p:cNvSpPr/>
          <p:nvPr/>
        </p:nvSpPr>
        <p:spPr>
          <a:xfrm>
            <a:off x="9937790" y="580667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secure and efficient storage of academic data.</a:t>
            </a:r>
            <a:endParaRPr lang="en-US" sz="175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/>
          </a:p>
        </p:txBody>
      </p:sp>
      <p:sp>
        <p:nvSpPr>
          <p:cNvPr id="16" name="Text 11"/>
          <p:cNvSpPr/>
          <p:nvPr/>
        </p:nvSpPr>
        <p:spPr>
          <a:xfrm>
            <a:off x="793790" y="5139095"/>
            <a:ext cx="38987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Cloud PDF Parsing Service (Python)</a:t>
            </a:r>
            <a:endParaRPr lang="en-US" sz="2200"/>
          </a:p>
        </p:txBody>
      </p:sp>
      <p:sp>
        <p:nvSpPr>
          <p:cNvPr id="17" name="Text 12"/>
          <p:cNvSpPr/>
          <p:nvPr/>
        </p:nvSpPr>
        <p:spPr>
          <a:xfrm>
            <a:off x="793790" y="5983843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for processing static PDF schedules.</a:t>
            </a:r>
            <a:endParaRPr lang="en-US" sz="175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650"/>
          </a:p>
        </p:txBody>
      </p:sp>
      <p:sp>
        <p:nvSpPr>
          <p:cNvPr id="20" name="Text 14"/>
          <p:cNvSpPr/>
          <p:nvPr/>
        </p:nvSpPr>
        <p:spPr>
          <a:xfrm>
            <a:off x="793790" y="72336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latin typeface="Open Sans"/>
                <a:ea typeface="Open Sans"/>
                <a:cs typeface="Open Sans"/>
              </a:rPr>
              <a:t>Design Goal:</a:t>
            </a: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Achieve clear separation of concerns and stable state management.</a:t>
            </a:r>
            <a:endParaRPr lang="en-US" sz="1750">
              <a:latin typeface="Open Sans"/>
              <a:ea typeface="Open Sans"/>
              <a:cs typeface="Open San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62873A-5F13-6EED-61E4-D6B5A9B3DD80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6158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Use Case Diagram</a:t>
            </a:r>
            <a:endParaRPr lang="en-US" sz="2900"/>
          </a:p>
        </p:txBody>
      </p:sp>
      <p:sp>
        <p:nvSpPr>
          <p:cNvPr id="3" name="Text 1"/>
          <p:cNvSpPr/>
          <p:nvPr/>
        </p:nvSpPr>
        <p:spPr>
          <a:xfrm>
            <a:off x="793790" y="1451729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diagram illustrates the interactions between the student user and the MyStudies application, highlighting all primary functionalities.</a:t>
            </a:r>
            <a:endParaRPr lang="en-US" sz="14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553" y="1912382"/>
            <a:ext cx="3503176" cy="56210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A5DBB2-34E6-BD53-B565-1C7F3D8A1A4F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8299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2850" b="1">
                <a:latin typeface="Open Sans"/>
                <a:ea typeface="Crimson Pro Bold"/>
                <a:cs typeface="Crimson Pro Bold"/>
              </a:rPr>
              <a:t>Sequence Diagrams​</a:t>
            </a:r>
            <a:endParaRPr lang="en-US" sz="4000" b="1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1648583"/>
            <a:ext cx="6419374" cy="4714280"/>
          </a:xfrm>
          <a:prstGeom prst="roundRect">
            <a:avLst>
              <a:gd name="adj" fmla="val 181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4218" y="1860276"/>
            <a:ext cx="527851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Announcement Import (OCR) Sequence Diagram</a:t>
            </a:r>
            <a:endParaRPr lang="en-US" sz="20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282" y="2408678"/>
            <a:ext cx="5396389" cy="36141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17237" y="1648583"/>
            <a:ext cx="6419374" cy="4714280"/>
          </a:xfrm>
          <a:prstGeom prst="roundRect">
            <a:avLst>
              <a:gd name="adj" fmla="val 181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5253" y="1860276"/>
            <a:ext cx="386334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Schedule Import Sequence Diagram</a:t>
            </a:r>
            <a:endParaRPr lang="en-US" sz="20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729" y="2408678"/>
            <a:ext cx="5396389" cy="37424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3790" y="7224593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383E0F-DE08-2305-70C8-7D90100B8E72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0316"/>
            <a:ext cx="5466755" cy="458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Entity Relationship Diagram (ERD)</a:t>
            </a:r>
            <a:endParaRPr lang="en-US" sz="28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244" y="1371600"/>
            <a:ext cx="8433911" cy="5842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503" y="7378898"/>
            <a:ext cx="13051393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5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32DA8-AEB4-DEF0-CA9A-A6A3067F99BC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8888"/>
            <a:ext cx="1035355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Professional Development &amp; Lessons Learned</a:t>
            </a:r>
            <a:endParaRPr lang="en-US" sz="4200"/>
          </a:p>
        </p:txBody>
      </p:sp>
      <p:sp>
        <p:nvSpPr>
          <p:cNvPr id="3" name="Text 1"/>
          <p:cNvSpPr/>
          <p:nvPr/>
        </p:nvSpPr>
        <p:spPr>
          <a:xfrm>
            <a:off x="793790" y="1388388"/>
            <a:ext cx="4591288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Technical Skills Acquired</a:t>
            </a:r>
            <a:endParaRPr lang="en-US" sz="3350"/>
          </a:p>
        </p:txBody>
      </p:sp>
      <p:sp>
        <p:nvSpPr>
          <p:cNvPr id="4" name="Text 2"/>
          <p:cNvSpPr/>
          <p:nvPr/>
        </p:nvSpPr>
        <p:spPr>
          <a:xfrm>
            <a:off x="793790" y="225028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Flutter &amp; Dart (BLoC/Cubit)</a:t>
            </a:r>
            <a:endParaRPr lang="en-US" sz="1650"/>
          </a:p>
        </p:txBody>
      </p:sp>
      <p:sp>
        <p:nvSpPr>
          <p:cNvPr id="5" name="Text 3"/>
          <p:cNvSpPr/>
          <p:nvPr/>
        </p:nvSpPr>
        <p:spPr>
          <a:xfrm>
            <a:off x="793790" y="2670453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API Development: Python &amp; RESTful APIs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793790" y="3090624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AI/ML Integration: Google ML Kit for OCR</a:t>
            </a:r>
            <a:endParaRPr lang="en-US" sz="1650"/>
          </a:p>
        </p:txBody>
      </p:sp>
      <p:sp>
        <p:nvSpPr>
          <p:cNvPr id="7" name="Text 5"/>
          <p:cNvSpPr/>
          <p:nvPr/>
        </p:nvSpPr>
        <p:spPr>
          <a:xfrm>
            <a:off x="793790" y="3510796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Control: Git &amp; GitHub for collaborative development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793790" y="4178737"/>
            <a:ext cx="43097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Obstacles &amp; Solutions</a:t>
            </a:r>
            <a:endParaRPr lang="en-US" sz="3350"/>
          </a:p>
        </p:txBody>
      </p:sp>
      <p:sp>
        <p:nvSpPr>
          <p:cNvPr id="9" name="Shape 7"/>
          <p:cNvSpPr/>
          <p:nvPr/>
        </p:nvSpPr>
        <p:spPr>
          <a:xfrm>
            <a:off x="793790" y="5040630"/>
            <a:ext cx="13042821" cy="2560082"/>
          </a:xfrm>
          <a:prstGeom prst="roundRect">
            <a:avLst>
              <a:gd name="adj" fmla="val 353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10" y="5048250"/>
            <a:ext cx="1302758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913" y="5185053"/>
            <a:ext cx="390870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Obstacle</a:t>
            </a:r>
            <a:endParaRPr lang="en-US" sz="1650"/>
          </a:p>
        </p:txBody>
      </p:sp>
      <p:sp>
        <p:nvSpPr>
          <p:cNvPr id="12" name="Text 10"/>
          <p:cNvSpPr/>
          <p:nvPr/>
        </p:nvSpPr>
        <p:spPr>
          <a:xfrm>
            <a:off x="5364004" y="5185053"/>
            <a:ext cx="390370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</a:t>
            </a:r>
            <a:endParaRPr lang="en-US" sz="1650"/>
          </a:p>
        </p:txBody>
      </p:sp>
      <p:sp>
        <p:nvSpPr>
          <p:cNvPr id="13" name="Text 11"/>
          <p:cNvSpPr/>
          <p:nvPr/>
        </p:nvSpPr>
        <p:spPr>
          <a:xfrm>
            <a:off x="9706094" y="5185053"/>
            <a:ext cx="390751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</a:t>
            </a:r>
            <a:endParaRPr lang="en-US" sz="1650"/>
          </a:p>
        </p:txBody>
      </p:sp>
      <p:sp>
        <p:nvSpPr>
          <p:cNvPr id="14" name="Shape 12"/>
          <p:cNvSpPr/>
          <p:nvPr/>
        </p:nvSpPr>
        <p:spPr>
          <a:xfrm>
            <a:off x="801410" y="5666661"/>
            <a:ext cx="13027581" cy="9632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6913" y="5803463"/>
            <a:ext cx="390870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Layout Inconsistency</a:t>
            </a:r>
            <a:endParaRPr lang="en-US" sz="1650"/>
          </a:p>
        </p:txBody>
      </p:sp>
      <p:sp>
        <p:nvSpPr>
          <p:cNvPr id="16" name="Text 14"/>
          <p:cNvSpPr/>
          <p:nvPr/>
        </p:nvSpPr>
        <p:spPr>
          <a:xfrm>
            <a:off x="5364004" y="5803463"/>
            <a:ext cx="390370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Dart package limitations in table detection</a:t>
            </a:r>
            <a:endParaRPr lang="en-US" sz="1650"/>
          </a:p>
        </p:txBody>
      </p:sp>
      <p:sp>
        <p:nvSpPr>
          <p:cNvPr id="17" name="Text 15"/>
          <p:cNvSpPr/>
          <p:nvPr/>
        </p:nvSpPr>
        <p:spPr>
          <a:xfrm>
            <a:off x="9706094" y="5803463"/>
            <a:ext cx="390751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Python backend (pdfplumber)</a:t>
            </a:r>
            <a:endParaRPr lang="en-US" sz="1650"/>
          </a:p>
        </p:txBody>
      </p:sp>
      <p:sp>
        <p:nvSpPr>
          <p:cNvPr id="18" name="Shape 16"/>
          <p:cNvSpPr/>
          <p:nvPr/>
        </p:nvSpPr>
        <p:spPr>
          <a:xfrm>
            <a:off x="801410" y="6629876"/>
            <a:ext cx="13027581" cy="9632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16913" y="6766679"/>
            <a:ext cx="390870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OCR Accuracy</a:t>
            </a:r>
            <a:endParaRPr lang="en-US" sz="1650"/>
          </a:p>
        </p:txBody>
      </p:sp>
      <p:sp>
        <p:nvSpPr>
          <p:cNvPr id="20" name="Text 18"/>
          <p:cNvSpPr/>
          <p:nvPr/>
        </p:nvSpPr>
        <p:spPr>
          <a:xfrm>
            <a:off x="5364004" y="6766679"/>
            <a:ext cx="390370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Inaccurate OCR reads from low-quality images</a:t>
            </a:r>
            <a:endParaRPr lang="en-US" sz="1650"/>
          </a:p>
        </p:txBody>
      </p:sp>
      <p:sp>
        <p:nvSpPr>
          <p:cNvPr id="21" name="Text 19"/>
          <p:cNvSpPr/>
          <p:nvPr/>
        </p:nvSpPr>
        <p:spPr>
          <a:xfrm>
            <a:off x="9706094" y="6766679"/>
            <a:ext cx="390751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human-in-the-loop verification</a:t>
            </a:r>
            <a:endParaRPr lang="en-US" sz="16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C9E6AA-2FA9-5D7E-1C3E-A41918EA31E6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758428"/>
            <a:ext cx="5584031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 &amp; Future Work</a:t>
            </a:r>
            <a:endParaRPr lang="en-US" sz="3850"/>
          </a:p>
        </p:txBody>
      </p:sp>
      <p:sp>
        <p:nvSpPr>
          <p:cNvPr id="3" name="Text 1"/>
          <p:cNvSpPr/>
          <p:nvPr/>
        </p:nvSpPr>
        <p:spPr>
          <a:xfrm>
            <a:off x="767596" y="1454229"/>
            <a:ext cx="2960727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Achievements</a:t>
            </a:r>
            <a:endParaRPr lang="en-US" sz="2300"/>
          </a:p>
        </p:txBody>
      </p:sp>
      <p:sp>
        <p:nvSpPr>
          <p:cNvPr id="4" name="Text 2"/>
          <p:cNvSpPr/>
          <p:nvPr/>
        </p:nvSpPr>
        <p:spPr>
          <a:xfrm>
            <a:off x="767596" y="2120265"/>
            <a:ext cx="130952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Delivered a production-ready mobile application.</a:t>
            </a:r>
            <a:endParaRPr lang="en-US" sz="1550"/>
          </a:p>
        </p:txBody>
      </p:sp>
      <p:sp>
        <p:nvSpPr>
          <p:cNvPr id="5" name="Text 3"/>
          <p:cNvSpPr/>
          <p:nvPr/>
        </p:nvSpPr>
        <p:spPr>
          <a:xfrm>
            <a:off x="767596" y="2505075"/>
            <a:ext cx="130952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Demonstrated advanced technical integration (Flutter, Python, ML Kit, SQLite).</a:t>
            </a:r>
            <a:endParaRPr lang="en-US" sz="1550"/>
          </a:p>
        </p:txBody>
      </p:sp>
      <p:sp>
        <p:nvSpPr>
          <p:cNvPr id="6" name="Text 4"/>
          <p:cNvSpPr/>
          <p:nvPr/>
        </p:nvSpPr>
        <p:spPr>
          <a:xfrm>
            <a:off x="767596" y="2889885"/>
            <a:ext cx="130952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Overcame significant technical challenges with innovative solutions.</a:t>
            </a:r>
            <a:endParaRPr lang="en-US" sz="1550"/>
          </a:p>
        </p:txBody>
      </p:sp>
      <p:sp>
        <p:nvSpPr>
          <p:cNvPr id="7" name="Text 5"/>
          <p:cNvSpPr/>
          <p:nvPr/>
        </p:nvSpPr>
        <p:spPr>
          <a:xfrm>
            <a:off x="767596" y="3501628"/>
            <a:ext cx="2960727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Impact</a:t>
            </a:r>
            <a:endParaRPr lang="en-US" sz="2300"/>
          </a:p>
        </p:txBody>
      </p:sp>
      <p:sp>
        <p:nvSpPr>
          <p:cNvPr id="8" name="Text 6"/>
          <p:cNvSpPr/>
          <p:nvPr/>
        </p:nvSpPr>
        <p:spPr>
          <a:xfrm>
            <a:off x="767596" y="4167664"/>
            <a:ext cx="130952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Simplifies academic management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767596" y="4552474"/>
            <a:ext cx="130952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manual work and errors</a:t>
            </a:r>
            <a:endParaRPr lang="en-US" sz="1550"/>
          </a:p>
        </p:txBody>
      </p:sp>
      <p:sp>
        <p:nvSpPr>
          <p:cNvPr id="10" name="Text 8"/>
          <p:cNvSpPr/>
          <p:nvPr/>
        </p:nvSpPr>
        <p:spPr>
          <a:xfrm>
            <a:off x="767596" y="4937284"/>
            <a:ext cx="130952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Boosts student productivity</a:t>
            </a:r>
            <a:endParaRPr lang="en-US" sz="1550"/>
          </a:p>
        </p:txBody>
      </p:sp>
      <p:sp>
        <p:nvSpPr>
          <p:cNvPr id="11" name="Text 9"/>
          <p:cNvSpPr/>
          <p:nvPr/>
        </p:nvSpPr>
        <p:spPr>
          <a:xfrm>
            <a:off x="767596" y="5549027"/>
            <a:ext cx="2960727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Enhancements</a:t>
            </a:r>
            <a:endParaRPr lang="en-US" sz="2300"/>
          </a:p>
        </p:txBody>
      </p:sp>
      <p:sp>
        <p:nvSpPr>
          <p:cNvPr id="12" name="Shape 10"/>
          <p:cNvSpPr/>
          <p:nvPr/>
        </p:nvSpPr>
        <p:spPr>
          <a:xfrm>
            <a:off x="767596" y="6215062"/>
            <a:ext cx="4233505" cy="718185"/>
          </a:xfrm>
          <a:prstGeom prst="roundRect">
            <a:avLst>
              <a:gd name="adj" fmla="val 1154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503" y="6419969"/>
            <a:ext cx="36743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Cloud Sync for Multi-Device Access</a:t>
            </a:r>
            <a:endParaRPr lang="en-US" sz="1900"/>
          </a:p>
        </p:txBody>
      </p:sp>
      <p:sp>
        <p:nvSpPr>
          <p:cNvPr id="14" name="Shape 12"/>
          <p:cNvSpPr/>
          <p:nvPr/>
        </p:nvSpPr>
        <p:spPr>
          <a:xfrm>
            <a:off x="5198388" y="6215062"/>
            <a:ext cx="4233505" cy="718185"/>
          </a:xfrm>
          <a:prstGeom prst="roundRect">
            <a:avLst>
              <a:gd name="adj" fmla="val 1154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3294" y="6419969"/>
            <a:ext cx="338709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Peer Academic Resource Sharing</a:t>
            </a:r>
            <a:endParaRPr lang="en-US" sz="1900"/>
          </a:p>
        </p:txBody>
      </p:sp>
      <p:sp>
        <p:nvSpPr>
          <p:cNvPr id="16" name="Shape 14"/>
          <p:cNvSpPr/>
          <p:nvPr/>
        </p:nvSpPr>
        <p:spPr>
          <a:xfrm>
            <a:off x="9629180" y="6215062"/>
            <a:ext cx="4233505" cy="718185"/>
          </a:xfrm>
          <a:prstGeom prst="roundRect">
            <a:avLst>
              <a:gd name="adj" fmla="val 1154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34086" y="6419969"/>
            <a:ext cx="281380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Major-Specific Study Plans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767596" y="7155299"/>
            <a:ext cx="130952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04A4E-5171-4940-9793-E4101B7DC3F1}"/>
              </a:ext>
            </a:extLst>
          </p:cNvPr>
          <p:cNvSpPr/>
          <p:nvPr/>
        </p:nvSpPr>
        <p:spPr>
          <a:xfrm>
            <a:off x="12594336" y="7607807"/>
            <a:ext cx="2011679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MMQ</dc:creator>
  <cp:lastModifiedBy>Mustafa Al Qattan</cp:lastModifiedBy>
  <cp:revision>43</cp:revision>
  <dcterms:created xsi:type="dcterms:W3CDTF">2025-12-08T09:52:48Z</dcterms:created>
  <dcterms:modified xsi:type="dcterms:W3CDTF">2025-12-12T19:25:14Z</dcterms:modified>
</cp:coreProperties>
</file>